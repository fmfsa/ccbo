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ln w="41275">
              <a:solidFill>
                <a:srgbClr val="0E8388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solidFill>
              <a:srgbClr val="F7ECE7"/>
            </a:solidFill>
            <a:ln w="31750">
              <a:solidFill>
                <a:srgbClr val="C2573A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= quality + speed in one number. R measures how far you closed the gap to the oracle optimum y*; the speed term rewards reaching that best value early. Key point: GAP only looks at the single best value and when it first appeared.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PA-GAP is path-aware: it averages the improvement ratio over every trial, weighting earlier trials more. It rewards steady, early progress. GAP and PA-GAP can disagree (a big early jump scores high on GAP; gradual progress scores higher on PA-GAP) — which is why the benchmark reports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GAP — how close did you get, and how fast?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One score in [0, 1] (higher is better): did the optimizer reach a value near the best possible, and did it get there early?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Quality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close the best result got to the best possible value y*.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Speed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early in the run that best value was first reached.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8388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It rewards an optimizer that jumps to a near-best answer EARLY. GAP looks only at the single best value and the moment it first appeared — not the ups and downs along the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Formula  (higher = better, 0–1)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R     = clip( (y0 - y_best) / (y0 - y*), 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speed = (T - t*) / 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62A4A"/>
                </a:solidFill>
                <a:latin typeface="Courier New"/>
              </a:rPr>
              <a:t>GAP   = ( R + speed ) / ( 1 + (T-1)/T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474720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y0 = starting best   ·   y_best = best found   ·   y* = best possible (oracle)   ·   t* = trial the best was first reached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224528"/>
          <a:ext cx="539496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The curve = how far you've improved over time. GAP reads its final height (≈0.85) and how early it got there — a snapshot, not the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PA-GAP — was progress steady the whole 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Path-Aware GAP scores the WHOLE journey, not just the final value: it averages how much you'd improved at every trial.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C25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Whole path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it sums up improvement at every step, not only the end.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Early counts more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each trial is weighted, with earlier progress worth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Two methods can reach the same final value but score differently: the one that improves EARLY and holds it wins. Because early trials weigh most, even a perfect run caps near 1/2 (its maximum is (T+1)/(2T)) — so PA-GAP scores look smaller than GAP's 0–1.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C2573A"/>
                </a:solidFill>
                <a:latin typeface="Calibri"/>
              </a:rPr>
              <a:t>Formula  (higher = better)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R_t = clip( (y0 - best_t)/(y0 - y*),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w_t = (T - (t-1)) / T      (early weight)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A4A"/>
                </a:solidFill>
                <a:latin typeface="Courier New"/>
              </a:rPr>
              <a:t>PA-GAP = (1/T) · Σ_t  R_t · w_t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2573A"/>
                </a:solidFill>
                <a:latin typeface="Courier New"/>
              </a:rPr>
              <a:t>0  &lt;=  PA-GAP  &lt;=  (T+1)/(2T)  ~ 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813048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best_t = best-so-far at trial t   ·   R_t = improvement so far (0–1)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562856"/>
          <a:ext cx="5394960" cy="153619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PA-GAP adds up the shaded area under the whole curve (early trials weighted more) — it rewards the journey, not just the endpoint.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What QCBO operates on: from DAG to quotient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155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B7B"/>
                </a:solidFill>
                <a:latin typeface="Calibri"/>
              </a:rPr>
              <a:t>QCBO groups the manipulable variables into clusters and reasons over the </a:t>
            </a:r>
            <a:r>
              <a:rPr sz="1600" b="1">
                <a:solidFill>
                  <a:srgbClr val="0E8388"/>
                </a:solidFill>
                <a:latin typeface="Calibri"/>
              </a:rPr>
              <a:t>quotient</a:t>
            </a:r>
            <a:r>
              <a:rPr sz="1600" b="0">
                <a:solidFill>
                  <a:srgbClr val="5B6B7B"/>
                </a:solidFill>
                <a:latin typeface="Calibri"/>
              </a:rPr>
              <a:t> graph — the cluster-level causal graph — instead of the full DAG.</a:t>
            </a:r>
          </a:p>
        </p:txBody>
      </p:sp>
      <p:pic>
        <p:nvPicPr>
          <p:cNvPr id="4" name="Picture 3" descr="Synthetic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050" y="1874519"/>
            <a:ext cx="2310859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Full causal DAG  (Synthetic / CompleteGraph)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788920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2A4A"/>
                </a:solidFill>
                <a:latin typeface="Calibri"/>
              </a:rPr>
              <a:t>merge  {D, E}</a:t>
            </a:r>
          </a:p>
        </p:txBody>
      </p:sp>
      <p:pic>
        <p:nvPicPr>
          <p:cNvPr id="8" name="Picture 7" descr="Synthetic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610" y="1874519"/>
            <a:ext cx="2310859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E8388"/>
                </a:solidFill>
                <a:latin typeface="Calibri"/>
              </a:rPr>
              <a:t>Quotient C-DAG  (what QCBO uses)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6144768"/>
            <a:ext cx="201168" cy="201168"/>
          </a:xfrm>
          <a:prstGeom prst="ellipse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6099048"/>
            <a:ext cx="95280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manipulable</a:t>
            </a:r>
          </a:p>
        </p:txBody>
      </p:sp>
      <p:sp>
        <p:nvSpPr>
          <p:cNvPr id="12" name="Oval 11"/>
          <p:cNvSpPr/>
          <p:nvPr/>
        </p:nvSpPr>
        <p:spPr>
          <a:xfrm>
            <a:off x="2534716" y="6144768"/>
            <a:ext cx="201168" cy="201168"/>
          </a:xfrm>
          <a:prstGeom prst="ellipse">
            <a:avLst/>
          </a:prstGeom>
          <a:solidFill>
            <a:srgbClr val="7FB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5612" y="6099048"/>
            <a:ext cx="117774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other 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4334256" y="6144768"/>
            <a:ext cx="201168" cy="201168"/>
          </a:xfrm>
          <a:prstGeom prst="ellipse">
            <a:avLst/>
          </a:prstGeom>
          <a:solidFill>
            <a:srgbClr val="CDE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6099048"/>
            <a:ext cx="72786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target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83910" y="6163055"/>
            <a:ext cx="310896" cy="164592"/>
          </a:xfrm>
          <a:prstGeom prst="roundRect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4534" y="6099048"/>
            <a:ext cx="14776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cluster (quotient)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3100" y="6227064"/>
            <a:ext cx="274320" cy="41148"/>
          </a:xfrm>
          <a:prstGeom prst="rect">
            <a:avLst/>
          </a:prstGeom>
          <a:solidFill>
            <a:srgbClr val="B3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7148" y="6099048"/>
            <a:ext cx="140268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latent confounder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(1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ToyGraph / Synth-2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{X, Z}</a:t>
            </a:r>
          </a:p>
        </p:txBody>
      </p:sp>
      <p:pic>
        <p:nvPicPr>
          <p:cNvPr id="4" name="Picture 3" descr="ToyGraph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117" y="1463040"/>
            <a:ext cx="145088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ToyGraph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146" y="1463040"/>
            <a:ext cx="2112106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Chain-hard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{Z, W}</a:t>
            </a:r>
          </a:p>
        </p:txBody>
      </p:sp>
      <p:pic>
        <p:nvPicPr>
          <p:cNvPr id="8" name="Picture 7" descr="Cha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098" y="4046220"/>
            <a:ext cx="1908923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Cha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757" y="4046220"/>
            <a:ext cx="145088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(2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Epidemiology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{L, B}</a:t>
            </a:r>
          </a:p>
        </p:txBody>
      </p:sp>
      <p:pic>
        <p:nvPicPr>
          <p:cNvPr id="4" name="Picture 3" descr="Epidemi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62" y="1463040"/>
            <a:ext cx="145379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pidemi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19" y="1463040"/>
            <a:ext cx="1104961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Healthcare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{Aspirin, Statin}</a:t>
            </a:r>
          </a:p>
        </p:txBody>
      </p:sp>
      <p:pic>
        <p:nvPicPr>
          <p:cNvPr id="8" name="Picture 7" descr="Healthcare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3605" y="4046220"/>
            <a:ext cx="1173908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Healthcare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083" y="4046220"/>
            <a:ext cx="892233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(3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Ecology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{C,N,O}, {D,T}</a:t>
            </a:r>
          </a:p>
        </p:txBody>
      </p:sp>
      <p:pic>
        <p:nvPicPr>
          <p:cNvPr id="4" name="Picture 3" descr="Ec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4767" y="1463040"/>
            <a:ext cx="2831585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c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17" y="1463040"/>
            <a:ext cx="1730964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Protein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{Akt,Mek}, {PKA,PKC}</a:t>
            </a:r>
          </a:p>
        </p:txBody>
      </p:sp>
      <p:pic>
        <p:nvPicPr>
          <p:cNvPr id="8" name="Picture 7" descr="Prote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336" y="4046220"/>
            <a:ext cx="2286446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Prote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6367" y="4046220"/>
            <a:ext cx="214366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