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ln w="41275">
              <a:solidFill>
                <a:srgbClr val="0E8388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solidFill>
              <a:srgbClr val="F7ECE7"/>
            </a:solidFill>
            <a:ln w="31750">
              <a:solidFill>
                <a:srgbClr val="C2573A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QCBO-finest</c:v>
                </c:pt>
              </c:strCache>
            </c:strRef>
          </c:tx>
          <c:spPr>
            <a:solidFill>
              <a:srgbClr val="E69F00"/>
            </a:solidFill>
          </c:spPr>
          <c:cat>
            <c:strRef>
              <c:f>Sheet1!$A$2:$A$10</c:f>
              <c:strCache>
                <c:ptCount val="9"/>
                <c:pt idx="0">
                  <c:v>add X1→X2 (bow)</c:v>
                </c:pt>
                <c:pt idx="1">
                  <c:v>del X3→X2</c:v>
                </c:pt>
                <c:pt idx="2">
                  <c:v>rev X3→X2</c:v>
                </c:pt>
                <c:pt idx="3">
                  <c:v>omit X1↔X2 conf.</c:v>
                </c:pt>
                <c:pt idx="4">
                  <c:v>sweep k=2</c:v>
                </c:pt>
                <c:pt idx="5">
                  <c:v>sweep k=3</c:v>
                </c:pt>
                <c:pt idx="6">
                  <c:v>del X1→M2 (red.)</c:v>
                </c:pt>
                <c:pt idx="7">
                  <c:v>del X3→M1</c:v>
                </c:pt>
                <c:pt idx="8">
                  <c:v>inter bow X1→X5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0.1162893386616998</c:v>
                </c:pt>
                <c:pt idx="1">
                  <c:v>0.1559334876977081</c:v>
                </c:pt>
                <c:pt idx="2">
                  <c:v>0.1559334876977081</c:v>
                </c:pt>
                <c:pt idx="3">
                  <c:v>0.09817484963833784</c:v>
                </c:pt>
                <c:pt idx="4">
                  <c:v>0.11976963386448973</c:v>
                </c:pt>
                <c:pt idx="5">
                  <c:v>0.11973384953189788</c:v>
                </c:pt>
                <c:pt idx="6">
                  <c:v>0.12180890207211796</c:v>
                </c:pt>
                <c:pt idx="7">
                  <c:v>0.040298531185743794</c:v>
                </c:pt>
                <c:pt idx="8">
                  <c:v>0.0066563174673977595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QCBO-coarse</c:v>
                </c:pt>
              </c:strCache>
            </c:strRef>
          </c:tx>
          <c:spPr>
            <a:solidFill>
              <a:srgbClr val="D55E00"/>
            </a:solidFill>
          </c:spPr>
          <c:cat>
            <c:strRef>
              <c:f>Sheet1!$A$2:$A$10</c:f>
              <c:strCache>
                <c:ptCount val="9"/>
                <c:pt idx="0">
                  <c:v>add X1→X2 (bow)</c:v>
                </c:pt>
                <c:pt idx="1">
                  <c:v>del X3→X2</c:v>
                </c:pt>
                <c:pt idx="2">
                  <c:v>rev X3→X2</c:v>
                </c:pt>
                <c:pt idx="3">
                  <c:v>omit X1↔X2 conf.</c:v>
                </c:pt>
                <c:pt idx="4">
                  <c:v>sweep k=2</c:v>
                </c:pt>
                <c:pt idx="5">
                  <c:v>sweep k=3</c:v>
                </c:pt>
                <c:pt idx="6">
                  <c:v>del X1→M2 (red.)</c:v>
                </c:pt>
                <c:pt idx="7">
                  <c:v>del X3→M1</c:v>
                </c:pt>
                <c:pt idx="8">
                  <c:v>inter bow X1→X5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-0.006606812812277707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1000">
                <a:solidFill>
                  <a:srgbClr val="24324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6EA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5B6B7B"/>
                </a:solidFill>
              </a:defRPr>
            </a:pPr>
          </a:p>
        </c:txPr>
        <c:crossAx val="-2068027336"/>
        <c:crosses val="autoZero"/>
      </c:valAx>
    </c:plotArea>
    <c:legend>
      <c:legendPos val="tr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experiment. Fixed-objective protocol: same SCM, data, seeds, budget; only the assumed structure varies. QCBO-coarse's zeros are byte-identity (Prop. 2 / Theorem 1), verified at 1e-7 tolerance. The inter bow (right-most) is the exact scope boundary: it completes a cluster-level bow, do(C1) becomes non-identifiable, the guarantee is lost. Finest's shifts can even help (decoy deletion) — the point is behavior moves, unpredictably; coarse cannot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Positioning slide. BO: robust but weak — the floor. CBO/finest: the ceiling on a correct graph, brittle otherwise. CEO: the field's graph-uncertainty answer — hedging dilutes rather than removes a wrong edge, and DAG-only candidates cannot express a forgotten confounder (P7 zero is representational blindness, daggered in the paper). QCBO-coarse: invariance by construction, priced exactly by the lossy-partition case (next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WIP slide. Framing: full-DAG CBO self-corrects eventually, so coarse guarantees are finite-budget; and when the partition is lossy, fixed-coarse pays the price forever (linear cumulative regret). Hierarchical QCBO makes the partition a starting resolution: plateau trigger -&gt; split incumbent's cluster -&gt; warm start (Prop. 4). Honest positioning: it does NOT beat CBO's regret constant; it removes fixed-coarse's linear term and keeps invariance for clusters never split. Rollback rule + hierarchy discovery = next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= quality + speed in one number. R measures how far you closed the gap to the oracle optimum y*; the speed term rewards reaching that best value early. Key point: GAP only looks at the single best value and when it first appeared.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PA-GAP is path-aware: it averages the improvement ratio over every trial, weighting earlier trials more. It rewards steady, early progress. GAP and PA-GAP can disagree (a big early jump scores high on GAP; gradual progress scores higher on PA-GAP) — which is why the benchmark reports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GAP — how close did you get, and how fast?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One score in [0, 1] (higher is better): did the optimizer reach a value near the best possible, and did it get there early?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0E8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Quality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close the best result got to the best possible value y*.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Speed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early in the run that best value was first reached.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8388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It rewards an optimizer that jumps to a near-best answer EARLY. GAP looks only at the single best value and the moment it first appeared — not the ups and downs along the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E8388"/>
                </a:solidFill>
                <a:latin typeface="Calibri"/>
              </a:rPr>
              <a:t>Formula  (higher = better, 0–1)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R     = clip( (y0 - y_best) / (y0 - y*), 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speed = (T - t*) / 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62A4A"/>
                </a:solidFill>
                <a:latin typeface="Courier New"/>
              </a:rPr>
              <a:t>GAP   = ( R + speed ) / ( 1 + (T-1)/T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474720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y0 = starting best   ·   y_best = best found   ·   y* = best possible (oracle)   ·   t* = trial the best was first reached   ·   T = number of optimization trials (the budget)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224528"/>
          <a:ext cx="5394960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The curve = how far you've improved over time. GAP reads its final height (≈0.85) and how early it got there — a snapshot, not the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PA-GAP — was progress steady the whole 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Path-Aware GAP scores the WHOLE journey, not just the final value: it averages how much you'd improved at every trial.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C25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Whole path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it sums up improvement at every step, not only the end.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Early counts more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each trial is weighted, with earlier progress worth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F7ECE7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2573A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Two methods can reach the same final value but score differently: the one that improves EARLY and holds it wins. Because early trials weigh most, even a perfect run caps near 1/2 (its maximum is (T+1)/(2T)) — so PA-GAP scores look smaller than GAP's 0–1.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C2573A"/>
                </a:solidFill>
                <a:latin typeface="Calibri"/>
              </a:rPr>
              <a:t>Formula  (higher = better)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43242"/>
                </a:solidFill>
                <a:latin typeface="Courier New"/>
              </a:rPr>
              <a:t>R_t = clip( (y0 - best_t)/(y0 - y*),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43242"/>
                </a:solidFill>
                <a:latin typeface="Courier New"/>
              </a:rPr>
              <a:t>w_t = (T - (t-1)) / T      (early weight)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A4A"/>
                </a:solidFill>
                <a:latin typeface="Courier New"/>
              </a:rPr>
              <a:t>PA-GAP = (1/T) · Σ_t  R_t · w_t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2573A"/>
                </a:solidFill>
                <a:latin typeface="Courier New"/>
              </a:rPr>
              <a:t>0  &lt;=  PA-GAP  &lt;=  (T+1)/(2T)  ~  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813048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best_t = best-so-far at trial t   ·   R_t = improvement so far (0–1)   ·   T = number of optimization trials (the budget)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562856"/>
          <a:ext cx="5394960" cy="153619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PA-GAP adds up the shaded area under the whole curve (early trials weighted more) — it rewards the journey, not just the endpoint.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62A4A"/>
                </a:solidFill>
                <a:latin typeface="Cambria"/>
              </a:rPr>
              <a:t>What QCBO operates on: from DAG to quotient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155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B7B"/>
                </a:solidFill>
                <a:latin typeface="Calibri"/>
              </a:rPr>
              <a:t>QCBO groups the manipulable variables into clusters and reasons over the </a:t>
            </a:r>
            <a:r>
              <a:rPr sz="1600" b="1">
                <a:solidFill>
                  <a:srgbClr val="0E8388"/>
                </a:solidFill>
                <a:latin typeface="Calibri"/>
              </a:rPr>
              <a:t>quotient</a:t>
            </a:r>
            <a:r>
              <a:rPr sz="1600" b="0">
                <a:solidFill>
                  <a:srgbClr val="5B6B7B"/>
                </a:solidFill>
                <a:latin typeface="Calibri"/>
              </a:rPr>
              <a:t> graph — the cluster-level causal graph — instead of the full DAG.</a:t>
            </a:r>
          </a:p>
        </p:txBody>
      </p:sp>
      <p:pic>
        <p:nvPicPr>
          <p:cNvPr id="4" name="Picture 3" descr="Synthetic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050" y="1874519"/>
            <a:ext cx="2310859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046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Full causal DAG  (Synthetic / CompleteGraph)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2788920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2A4A"/>
                </a:solidFill>
                <a:latin typeface="Calibri"/>
              </a:rPr>
              <a:t>merge  {D, E}</a:t>
            </a:r>
          </a:p>
        </p:txBody>
      </p:sp>
      <p:pic>
        <p:nvPicPr>
          <p:cNvPr id="8" name="Picture 7" descr="Synthetic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610" y="1874519"/>
            <a:ext cx="2310859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55046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E8388"/>
                </a:solidFill>
                <a:latin typeface="Calibri"/>
              </a:rPr>
              <a:t>Quotient C-DAG  (what QCBO uses)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6144768"/>
            <a:ext cx="201168" cy="201168"/>
          </a:xfrm>
          <a:prstGeom prst="ellipse">
            <a:avLst/>
          </a:prstGeom>
          <a:solidFill>
            <a:srgbClr val="E0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1016" y="6099048"/>
            <a:ext cx="95280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manipulable</a:t>
            </a:r>
          </a:p>
        </p:txBody>
      </p:sp>
      <p:sp>
        <p:nvSpPr>
          <p:cNvPr id="12" name="Oval 11"/>
          <p:cNvSpPr/>
          <p:nvPr/>
        </p:nvSpPr>
        <p:spPr>
          <a:xfrm>
            <a:off x="2534716" y="6144768"/>
            <a:ext cx="201168" cy="201168"/>
          </a:xfrm>
          <a:prstGeom prst="ellipse">
            <a:avLst/>
          </a:prstGeom>
          <a:solidFill>
            <a:srgbClr val="7FB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5612" y="6099048"/>
            <a:ext cx="117774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other 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4334256" y="6144768"/>
            <a:ext cx="201168" cy="201168"/>
          </a:xfrm>
          <a:prstGeom prst="ellipse">
            <a:avLst/>
          </a:prstGeom>
          <a:solidFill>
            <a:srgbClr val="CDE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6099048"/>
            <a:ext cx="72786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target 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83910" y="6163055"/>
            <a:ext cx="310896" cy="164592"/>
          </a:xfrm>
          <a:prstGeom prst="roundRect">
            <a:avLst/>
          </a:prstGeom>
          <a:solidFill>
            <a:srgbClr val="E0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4534" y="6099048"/>
            <a:ext cx="14776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cluster (quotient)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93100" y="6227064"/>
            <a:ext cx="274320" cy="41148"/>
          </a:xfrm>
          <a:prstGeom prst="rect">
            <a:avLst/>
          </a:prstGeom>
          <a:solidFill>
            <a:srgbClr val="B3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7148" y="6099048"/>
            <a:ext cx="140268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latent confounder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(1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ToyGraph / Synth-2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{X, Z}</a:t>
            </a:r>
          </a:p>
        </p:txBody>
      </p:sp>
      <p:pic>
        <p:nvPicPr>
          <p:cNvPr id="4" name="Picture 3" descr="ToyGraph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117" y="1463040"/>
            <a:ext cx="1450884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ToyGraph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2146" y="1463040"/>
            <a:ext cx="2112106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Chain-hard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{Z, W}</a:t>
            </a:r>
          </a:p>
        </p:txBody>
      </p:sp>
      <p:pic>
        <p:nvPicPr>
          <p:cNvPr id="8" name="Picture 7" descr="Chain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6098" y="4046220"/>
            <a:ext cx="1908923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Chain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2757" y="4046220"/>
            <a:ext cx="1450884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(2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Epidemiology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{L, B}</a:t>
            </a:r>
          </a:p>
        </p:txBody>
      </p:sp>
      <p:pic>
        <p:nvPicPr>
          <p:cNvPr id="4" name="Picture 3" descr="Epidemiology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662" y="1463040"/>
            <a:ext cx="1453794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Epidemiology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19" y="1463040"/>
            <a:ext cx="1104961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Healthcare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{Aspirin, Statin}</a:t>
            </a:r>
          </a:p>
        </p:txBody>
      </p:sp>
      <p:pic>
        <p:nvPicPr>
          <p:cNvPr id="8" name="Picture 7" descr="Healthcare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3605" y="4046220"/>
            <a:ext cx="1173908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Healthcare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083" y="4046220"/>
            <a:ext cx="892233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(3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Ecology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clusters {C,N,O}, {D,T}</a:t>
            </a:r>
          </a:p>
        </p:txBody>
      </p:sp>
      <p:pic>
        <p:nvPicPr>
          <p:cNvPr id="4" name="Picture 3" descr="Ecology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4767" y="1463040"/>
            <a:ext cx="2831585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Ecology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17" y="1463040"/>
            <a:ext cx="1730964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Protein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clusters {Akt,Mek}, {PKA,PKC}</a:t>
            </a:r>
          </a:p>
        </p:txBody>
      </p:sp>
      <p:pic>
        <p:nvPicPr>
          <p:cNvPr id="8" name="Picture 7" descr="Protein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336" y="4046220"/>
            <a:ext cx="2286446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Protein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6367" y="4046220"/>
            <a:ext cx="2143664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62A4A"/>
                </a:solidFill>
                <a:latin typeface="Cambria"/>
              </a:rPr>
              <a:t>A wrong edge, held to the light  (ClusterBench10)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6070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5B6B7B"/>
                </a:solidFill>
                <a:latin typeface="Calibri"/>
              </a:rPr>
              <a:t>Objective held fixed; only the structure each method reasons with is perturbed. ΔGAP@100 = misspecified − correct, paired by seed (10 seeds, T=100).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47088"/>
            <a:ext cx="146304" cy="146304"/>
          </a:xfrm>
          <a:prstGeom prst="ellipse">
            <a:avLst/>
          </a:prstGeom>
          <a:solidFill>
            <a:srgbClr val="0E8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746504"/>
            <a:ext cx="3904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50" b="1">
                <a:solidFill>
                  <a:srgbClr val="162A4A"/>
                </a:solidFill>
                <a:latin typeface="Cambria"/>
              </a:rPr>
              <a:t>How a wrong graph does damage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212848"/>
            <a:ext cx="39044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243242"/>
                </a:solidFill>
                <a:latin typeface="Calibri"/>
              </a:rPr>
              <a:t>Prior bias — </a:t>
            </a:r>
            <a:r>
              <a:rPr sz="1450" b="0">
                <a:solidFill>
                  <a:srgbClr val="243242"/>
                </a:solidFill>
                <a:latin typeface="Calibri"/>
              </a:rPr>
              <a:t>the do-calculus prior is a functional of the graph; a wrong edge biases it and wastes evaluations.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243242"/>
                </a:solidFill>
                <a:latin typeface="Calibri"/>
              </a:rPr>
              <a:t>Arm deletion — </a:t>
            </a:r>
            <a:r>
              <a:rPr sz="1450" b="0">
                <a:solidFill>
                  <a:srgbClr val="243242"/>
                </a:solidFill>
                <a:latin typeface="Calibri"/>
              </a:rPr>
              <a:t>a flipped identifiability verdict removes candidate arms — sometimes the optimal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50208"/>
            <a:ext cx="4160520" cy="21031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169664"/>
            <a:ext cx="3611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E8388"/>
                </a:solidFill>
                <a:latin typeface="Calibri"/>
              </a:rPr>
              <a:t>The contract, kept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572000"/>
            <a:ext cx="36118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43242"/>
                </a:solidFill>
                <a:latin typeface="Calibri"/>
              </a:rPr>
              <a:t>QCBO-coarse is byte-identical to its correct-graph run on 8 of 9 perturbations — exact zeros, not small numbers. Full-DAG CBO (= QCBO-finest) shifts on every edge it can see.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0" y="1700784"/>
          <a:ext cx="65836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20640" y="6236208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B7B"/>
                </a:solidFill>
                <a:latin typeface="Calibri"/>
              </a:rPr>
              <a:t>ΔGAP@100 per perturbation (0 = unchanged). QCBO-coarse: exact zeros everywhere except the inter-cluster bow — the guarantee's precise boundary.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62A4A"/>
                </a:solidFill>
                <a:latin typeface="Cambria"/>
              </a:rPr>
              <a:t>The field under the same wrong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6070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5B6B7B"/>
                </a:solidFill>
                <a:latin typeface="Calibri"/>
              </a:rPr>
              <a:t>Four ways to hold a structural belief — and what each pays when an edge inside a cluster is wrong.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148840"/>
            <a:ext cx="219456" cy="219456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3584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BO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22860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ignores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84708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Invariant by blindness — and worst absolute Y (final 1.98). Robustness is not ignoring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3337560"/>
            <a:ext cx="219456" cy="219456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063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CBO ≡ QCBO-finest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347472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trusts the full 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3580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Complete ID on the assumed DAG: every visible edge feeds the prior and the arm gate, so every visible edit moves GAP/PA-GAP (final Y 0.29 on the correct graph).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526280"/>
            <a:ext cx="219456" cy="219456"/>
          </a:xfrm>
          <a:prstGeom prst="ellipse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25196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CEO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46634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hedges a graph posterior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2452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Entropy acquisition over a candidate pool (authors' stack; pool contains the true DAG). Misspec sweep running — 90 LSF jobs; this slide auto-fills from the results JSON on rebuild.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0352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" y="5715000"/>
            <a:ext cx="219456" cy="219456"/>
          </a:xfrm>
          <a:prstGeom prst="ellipse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54406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QCBO-coarse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5852159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commits to the quotient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41324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Cannot represent intra-cluster structure, so intra-cluster errors cannot reach it: byte-identical trajectories (final Y 0.13, best of the field at P0).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2881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B7B"/>
                </a:solidFill>
                <a:latin typeface="Calibri"/>
              </a:rPr>
              <a:t>Same protocol for every row: true SCM fixed, structure injected, seam checks assert the objective is untouched.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Hierarchical QCBO: refine the partition when the plateau says 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52760" y="402336"/>
            <a:ext cx="1005840" cy="457200"/>
          </a:xfrm>
          <a:prstGeom prst="roundRect">
            <a:avLst>
              <a:gd name="adj" fmla="val 15000"/>
            </a:avLst>
          </a:prstGeom>
          <a:solidFill>
            <a:srgbClr val="F7ECE7"/>
          </a:solidFill>
          <a:ln w="12700">
            <a:solidFill>
              <a:srgbClr val="C257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52760" y="475488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2573A"/>
                </a:solidFill>
                <a:latin typeface="Calibri"/>
              </a:rPr>
              <a:t>WIP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6400800" cy="11887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71016"/>
            <a:ext cx="5888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62A4A"/>
                </a:solidFill>
                <a:latin typeface="Calibri"/>
              </a:rPr>
              <a:t>Why 1 — full-DAG CBO always self-corrects. </a:t>
            </a:r>
            <a:r>
              <a:rPr sz="1350" b="0">
                <a:solidFill>
                  <a:srgbClr val="243242"/>
                </a:solidFill>
                <a:latin typeface="Calibri"/>
              </a:rPr>
              <a:t>A wrong edge only biases priors; interventional data override it, and its arm space always contains an optimum. So coarse guarantees are worth finite budget, never limiting value.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6400800" cy="1188720"/>
          </a:xfrm>
          <a:prstGeom prst="roundRect">
            <a:avLst>
              <a:gd name="adj" fmla="val 7000"/>
            </a:avLst>
          </a:prstGeom>
          <a:solidFill>
            <a:srgbClr val="F7ECE7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596896"/>
            <a:ext cx="5888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62A4A"/>
                </a:solidFill>
                <a:latin typeface="Calibri"/>
              </a:rPr>
              <a:t>Why 2 — a lossy partition is paid forever. </a:t>
            </a:r>
            <a:r>
              <a:rPr sz="1350" b="0">
                <a:solidFill>
                  <a:srgbClr val="243242"/>
                </a:solidFill>
                <a:latin typeface="Calibri"/>
              </a:rPr>
              <a:t>On ClusterBench10L the optimum do(X1, X3) splits cluster C1: fixed-coarse plateaus 1.03 above y* and its cumulative regret grows by 1.03 per trial — linear in 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5615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2A4A"/>
                </a:solidFill>
                <a:latin typeface="Cambria"/>
              </a:rPr>
              <a:t>The idea in 3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9663"/>
            <a:ext cx="2066543" cy="13898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8388"/>
                </a:solidFill>
                <a:latin typeface="Calibri"/>
              </a:rPr>
              <a:t>1 · Commit coarse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26864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43242"/>
                </a:solidFill>
                <a:latin typeface="Calibri"/>
              </a:rPr>
              <a:t>Run QCBO at partition Pi: intra-cluster invariance + a focused arm space.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4169663"/>
            <a:ext cx="2066543" cy="13898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42793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8388"/>
                </a:solidFill>
                <a:latin typeface="Calibri"/>
              </a:rPr>
              <a:t>2 · Plateau 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4626864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43242"/>
                </a:solidFill>
                <a:latin typeface="Calibri"/>
              </a:rPr>
              <a:t>Incumbent gain &lt; 1e-3 over 5 trials -&gt; split its cluster via the declared hierarchy (default singletons); re-check quotient validity.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74336" y="4169663"/>
            <a:ext cx="2066543" cy="13898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42793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8388"/>
                </a:solidFill>
                <a:latin typeface="Calibri"/>
              </a:rPr>
              <a:t>3 · Warm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4626864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43242"/>
                </a:solidFill>
                <a:latin typeface="Calibri"/>
              </a:rPr>
              <a:t>Prop. 4: superset arm space, shared arms keep identical functionals -&gt; carry all data by arm; init only new arms.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705856"/>
            <a:ext cx="6400800" cy="786384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797296"/>
            <a:ext cx="58887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62A4A"/>
                </a:solidFill>
                <a:latin typeface="Calibri"/>
              </a:rPr>
              <a:t>Survives: </a:t>
            </a:r>
            <a:r>
              <a:rPr sz="1150" b="0">
                <a:solidFill>
                  <a:srgbClr val="243242"/>
                </a:solidFill>
                <a:latin typeface="Calibri"/>
              </a:rPr>
              <a:t>invariance for never-split clusters (phase-scoped) · a split can be refused (validity) · price -&gt; bounded transient.  </a:t>
            </a:r>
            <a:r>
              <a:rPr sz="1150" b="1">
                <a:solidFill>
                  <a:srgbClr val="162A4A"/>
                </a:solidFill>
                <a:latin typeface="Calibri"/>
              </a:rPr>
              <a:t>Honest: </a:t>
            </a:r>
            <a:r>
              <a:rPr sz="1150" b="0">
                <a:solidFill>
                  <a:srgbClr val="243242"/>
                </a:solidFill>
                <a:latin typeface="Calibri"/>
              </a:rPr>
              <a:t>CBO keeps the best regret constant (5.3); the win is vs fixed-coarse.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143000"/>
            <a:ext cx="44805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usterbench10L_re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2071" y="1261872"/>
            <a:ext cx="3792497" cy="4160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06640" y="548640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ClusterBench10L, 10 seeds. Trigger at trial 11 ± 1; final Y 0.101 (= CBO's 0.103) vs coarse 1.128; cumulative regret 32 (bounded) vs coarse 120 (linear).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47104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B7B"/>
                </a:solidFill>
                <a:latin typeface="Calibri"/>
              </a:rPr>
              <a:t>hierarchical C-DAGs now  ·  discovering the hierarchy / local structure from the run's own interventional data -&gt; next paper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