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R_t</c:v>
                </c:pt>
              </c:strCache>
            </c:strRef>
          </c:tx>
          <c:spPr>
            <a:ln w="41275">
              <a:solidFill>
                <a:srgbClr val="0E8388"/>
              </a:solidFill>
            </a:ln>
          </c:spPr>
          <c:marker>
            <c:symbol val="none"/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</c:v>
                </c:pt>
                <c:pt idx="1">
                  <c:v>0.35</c:v>
                </c:pt>
                <c:pt idx="2">
                  <c:v>0.6</c:v>
                </c:pt>
                <c:pt idx="3">
                  <c:v>0.73</c:v>
                </c:pt>
                <c:pt idx="4">
                  <c:v>0.79</c:v>
                </c:pt>
                <c:pt idx="5">
                  <c:v>0.82</c:v>
                </c:pt>
                <c:pt idx="6">
                  <c:v>0.835</c:v>
                </c:pt>
                <c:pt idx="7">
                  <c:v>0.845</c:v>
                </c:pt>
                <c:pt idx="8">
                  <c:v>0.85</c:v>
                </c:pt>
                <c:pt idx="9">
                  <c:v>0.85</c:v>
                </c:pt>
                <c:pt idx="10">
                  <c:v>0.85</c:v>
                </c:pt>
              </c:numCache>
            </c:numRef>
          </c:val>
          <c:smooth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8DEE4"/>
            </a:solidFill>
          </a:ln>
        </c:spPr>
        <c:txPr>
          <a:bodyPr/>
          <a:lstStyle/>
          <a:p>
            <a:pPr>
              <a:defRPr sz="1000">
                <a:solidFill>
                  <a:srgbClr val="5B6B7B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 w="6350">
              <a:solidFill>
                <a:srgbClr val="E6EAEE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8DEE4"/>
            </a:solidFill>
          </a:ln>
        </c:spPr>
        <c:txPr>
          <a:bodyPr/>
          <a:lstStyle/>
          <a:p>
            <a:pPr>
              <a:defRPr sz="1000">
                <a:solidFill>
                  <a:srgbClr val="5B6B7B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R_t</c:v>
                </c:pt>
              </c:strCache>
            </c:strRef>
          </c:tx>
          <c:spPr>
            <a:solidFill>
              <a:srgbClr val="F7ECE7"/>
            </a:solidFill>
            <a:ln w="31750">
              <a:solidFill>
                <a:srgbClr val="C2573A"/>
              </a:solidFill>
            </a:ln>
          </c:spP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0.0</c:v>
                </c:pt>
                <c:pt idx="1">
                  <c:v>0.35</c:v>
                </c:pt>
                <c:pt idx="2">
                  <c:v>0.6</c:v>
                </c:pt>
                <c:pt idx="3">
                  <c:v>0.73</c:v>
                </c:pt>
                <c:pt idx="4">
                  <c:v>0.79</c:v>
                </c:pt>
                <c:pt idx="5">
                  <c:v>0.82</c:v>
                </c:pt>
                <c:pt idx="6">
                  <c:v>0.835</c:v>
                </c:pt>
                <c:pt idx="7">
                  <c:v>0.845</c:v>
                </c:pt>
                <c:pt idx="8">
                  <c:v>0.85</c:v>
                </c:pt>
                <c:pt idx="9">
                  <c:v>0.85</c:v>
                </c:pt>
                <c:pt idx="10">
                  <c:v>0.85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rgbClr val="D8DEE4"/>
            </a:solidFill>
          </a:ln>
        </c:spPr>
        <c:txPr>
          <a:bodyPr/>
          <a:lstStyle/>
          <a:p>
            <a:pPr>
              <a:defRPr sz="1000">
                <a:solidFill>
                  <a:srgbClr val="5B6B7B"/>
                </a:solidFill>
                <a:latin typeface="Calibri"/>
              </a:defRPr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  <c:max val="1.0"/>
          <c:min val="0.0"/>
        </c:scaling>
        <c:delete val="0"/>
        <c:axPos val="l"/>
        <c:majorGridlines>
          <c:spPr>
            <a:ln w="6350">
              <a:solidFill>
                <a:srgbClr val="E6EAEE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D8DEE4"/>
            </a:solidFill>
          </a:ln>
        </c:spPr>
        <c:txPr>
          <a:bodyPr/>
          <a:lstStyle/>
          <a:p>
            <a:pPr>
              <a:defRPr sz="1000">
                <a:solidFill>
                  <a:srgbClr val="5B6B7B"/>
                </a:solidFill>
                <a:latin typeface="Calibri"/>
              </a:defRPr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WIP slide. Framing: full-DAG CBO self-corrects eventually, so coarse guarantees are finite-budget; and when the partition is lossy, fixed-coarse pays the price forever (linear cumulative regret). Hierarchical QCBO makes the partition a starting resolution: plateau trigger -&gt; split incumbent's cluster -&gt; warm start (Prop. 4). Honest positioning: it does NOT beat CBO's regret constant; it removes fixed-coarse's linear term and keeps invariance for clusters never split. Rollback rule + hierarchy discovery = next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= quality + speed in one number. R measures how far you closed the gap to the oracle optimum y*; the speed term rewards reaching that best value early. Key point: GAP only looks at the single best value and when it first appeared.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PA-GAP is path-aware: it averages the improvement ratio over every trial, weighting earlier trials more. It rewards steady, early progress. GAP and PA-GAP can disagree (a big early jump scores high on GAP; gradual progress scores higher on PA-GAP) — which is why the benchmark reports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162A4A"/>
                </a:solidFill>
                <a:latin typeface="Cambria"/>
              </a:rPr>
              <a:t>GAP — how close did you get, and how fast?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5B6B7B"/>
                </a:solidFill>
                <a:latin typeface="Calibri"/>
              </a:rPr>
              <a:t>One score in [0, 1] (higher is better): did the optimizer reach a value near the best possible, and did it get there early?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93392"/>
            <a:ext cx="146304" cy="146304"/>
          </a:xfrm>
          <a:prstGeom prst="ellipse">
            <a:avLst/>
          </a:prstGeom>
          <a:solidFill>
            <a:srgbClr val="0E8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50017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62A4A"/>
                </a:solidFill>
                <a:latin typeface="Cambria"/>
              </a:rPr>
              <a:t>What it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95728"/>
            <a:ext cx="50017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43242"/>
                </a:solidFill>
                <a:latin typeface="Calibri"/>
              </a:rPr>
              <a:t>Quality — </a:t>
            </a:r>
            <a:r>
              <a:rPr sz="1600" b="0">
                <a:solidFill>
                  <a:srgbClr val="243242"/>
                </a:solidFill>
                <a:latin typeface="Calibri"/>
              </a:rPr>
              <a:t>how close the best result got to the best possible value y*.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43242"/>
                </a:solidFill>
                <a:latin typeface="Calibri"/>
              </a:rPr>
              <a:t>Speed — </a:t>
            </a:r>
            <a:r>
              <a:rPr sz="1600" b="0">
                <a:solidFill>
                  <a:srgbClr val="243242"/>
                </a:solidFill>
                <a:latin typeface="Calibri"/>
              </a:rPr>
              <a:t>how early in the run that best value was first reached.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03320"/>
            <a:ext cx="5257800" cy="2331720"/>
          </a:xfrm>
          <a:prstGeom prst="roundRect">
            <a:avLst>
              <a:gd name="adj" fmla="val 7000"/>
            </a:avLst>
          </a:prstGeom>
          <a:solidFill>
            <a:srgbClr val="E6F2F2"/>
          </a:solidFill>
          <a:ln>
            <a:noFill/>
          </a:ln>
          <a:effectLst>
            <a:outerShdw blurRad="90000" dist="38000" dir="5400000" rotWithShape="0">
              <a:srgbClr val="9AA6B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941063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0E8388"/>
                </a:solidFill>
                <a:latin typeface="Calibri"/>
              </a:rPr>
              <a:t>Plain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361688"/>
            <a:ext cx="46908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243242"/>
                </a:solidFill>
                <a:latin typeface="Calibri"/>
              </a:rPr>
              <a:t>It rewards an optimizer that jumps to a near-best answer EARLY. GAP looks only at the single best value and the moment it first appeared — not the ups and downs along the 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92807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9AA6B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093976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0E8388"/>
                </a:solidFill>
                <a:latin typeface="Calibri"/>
              </a:rPr>
              <a:t>Formula  (higher = better, 0–1)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532887"/>
            <a:ext cx="486460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3242"/>
                </a:solidFill>
                <a:latin typeface="Courier New"/>
              </a:rPr>
              <a:t>R     = clip( (y0 - y_best) / (y0 - y*),  0,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243242"/>
                </a:solidFill>
                <a:latin typeface="Courier New"/>
              </a:rPr>
              <a:t>speed = (T - t*) / 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162A4A"/>
                </a:solidFill>
                <a:latin typeface="Courier New"/>
              </a:rPr>
              <a:t>GAP   = ( R + speed ) / ( 1 + (T-1)/T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3474720"/>
            <a:ext cx="4864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B"/>
                </a:solidFill>
                <a:latin typeface="Calibri"/>
              </a:rPr>
              <a:t>y0 = starting best   ·   y_best = best found   ·   y* = best possible (oracle)   ·   t* = trial the best was first reached   ·   T = number of optimization trials (the budget)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217920" y="4224528"/>
          <a:ext cx="5394960" cy="187451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7920" y="6144768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Calibri"/>
              </a:rPr>
              <a:t>The curve = how far you've improved over time. GAP reads its final height (≈0.85) and how early it got there — a snapshot, not the path.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300" b="1">
                <a:solidFill>
                  <a:srgbClr val="162A4A"/>
                </a:solidFill>
                <a:latin typeface="Cambria"/>
              </a:rPr>
              <a:t>PA-GAP — was progress steady the whole way?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33856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50" b="0">
                <a:solidFill>
                  <a:srgbClr val="5B6B7B"/>
                </a:solidFill>
                <a:latin typeface="Calibri"/>
              </a:rPr>
              <a:t>Path-Aware GAP scores the WHOLE journey, not just the final value: it averages how much you'd improved at every trial.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993392"/>
            <a:ext cx="146304" cy="146304"/>
          </a:xfrm>
          <a:prstGeom prst="ellipse">
            <a:avLst/>
          </a:prstGeom>
          <a:solidFill>
            <a:srgbClr val="C257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5001768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162A4A"/>
                </a:solidFill>
                <a:latin typeface="Cambria"/>
              </a:rPr>
              <a:t>What it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95728"/>
            <a:ext cx="50017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43242"/>
                </a:solidFill>
                <a:latin typeface="Calibri"/>
              </a:rPr>
              <a:t>Whole path — </a:t>
            </a:r>
            <a:r>
              <a:rPr sz="1600" b="0">
                <a:solidFill>
                  <a:srgbClr val="243242"/>
                </a:solidFill>
                <a:latin typeface="Calibri"/>
              </a:rPr>
              <a:t>it sums up improvement at every step, not only the end.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1">
                <a:solidFill>
                  <a:srgbClr val="243242"/>
                </a:solidFill>
                <a:latin typeface="Calibri"/>
              </a:rPr>
              <a:t>Early counts more — </a:t>
            </a:r>
            <a:r>
              <a:rPr sz="1600" b="0">
                <a:solidFill>
                  <a:srgbClr val="243242"/>
                </a:solidFill>
                <a:latin typeface="Calibri"/>
              </a:rPr>
              <a:t>each trial is weighted, with earlier progress worth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703320"/>
            <a:ext cx="5257800" cy="2331720"/>
          </a:xfrm>
          <a:prstGeom prst="roundRect">
            <a:avLst>
              <a:gd name="adj" fmla="val 7000"/>
            </a:avLst>
          </a:prstGeom>
          <a:solidFill>
            <a:srgbClr val="F7ECE7"/>
          </a:solidFill>
          <a:ln>
            <a:noFill/>
          </a:ln>
          <a:effectLst>
            <a:outerShdw blurRad="90000" dist="38000" dir="5400000" rotWithShape="0">
              <a:srgbClr val="9AA6B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3941063"/>
            <a:ext cx="46908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2573A"/>
                </a:solidFill>
                <a:latin typeface="Calibri"/>
              </a:rPr>
              <a:t>Plain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361688"/>
            <a:ext cx="4690872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243242"/>
                </a:solidFill>
                <a:latin typeface="Calibri"/>
              </a:rPr>
              <a:t>Two methods can reach the same final value but score differently: the one that improves EARLY and holds it wins. Because early trials weigh most, even a perfect run caps near 1/2 (its maximum is (T+1)/(2T)) — so PA-GAP scores look smaller than GAP's 0–1.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92807"/>
            <a:ext cx="5486400" cy="24871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9AA6B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3096" y="2093976"/>
            <a:ext cx="48646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C2573A"/>
                </a:solidFill>
                <a:latin typeface="Calibri"/>
              </a:rPr>
              <a:t>Formula  (higher = better)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3096" y="2532887"/>
            <a:ext cx="4864608" cy="1298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43242"/>
                </a:solidFill>
                <a:latin typeface="Courier New"/>
              </a:rPr>
              <a:t>R_t = clip( (y0 - best_t)/(y0 - y*), 0, 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43242"/>
                </a:solidFill>
                <a:latin typeface="Courier New"/>
              </a:rPr>
              <a:t>w_t = (T - (t-1)) / T      (early weight)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162A4A"/>
                </a:solidFill>
                <a:latin typeface="Courier New"/>
              </a:rPr>
              <a:t>PA-GAP = (1/T) · Σ_t  R_t · w_t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C2573A"/>
                </a:solidFill>
                <a:latin typeface="Courier New"/>
              </a:rPr>
              <a:t>0  &lt;=  PA-GAP  &lt;=  (T+1)/(2T)  ~  0.5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3096" y="3813048"/>
            <a:ext cx="486460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B6B7B"/>
                </a:solidFill>
                <a:latin typeface="Calibri"/>
              </a:rPr>
              <a:t>best_t = best-so-far at trial t   ·   R_t = improvement so far (0–1)   ·   T = number of optimization trials (the budget)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6217920" y="4562856"/>
          <a:ext cx="5394960" cy="153619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6217920" y="6144768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1">
                <a:solidFill>
                  <a:srgbClr val="5B6B7B"/>
                </a:solidFill>
                <a:latin typeface="Calibri"/>
              </a:rPr>
              <a:t>PA-GAP adds up the shaded area under the whole curve (early trials weighted more) — it rewards the journey, not just the endpoint.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100" b="1">
                <a:solidFill>
                  <a:srgbClr val="162A4A"/>
                </a:solidFill>
                <a:latin typeface="Cambria"/>
              </a:rPr>
              <a:t>What QCBO operates on: from DAG to quotient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115568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5B6B7B"/>
                </a:solidFill>
                <a:latin typeface="Calibri"/>
              </a:rPr>
              <a:t>QCBO groups the manipulable variables into clusters and reasons over the </a:t>
            </a:r>
            <a:r>
              <a:rPr sz="1600" b="1">
                <a:solidFill>
                  <a:srgbClr val="0E8388"/>
                </a:solidFill>
                <a:latin typeface="Calibri"/>
              </a:rPr>
              <a:t>quotient</a:t>
            </a:r>
            <a:r>
              <a:rPr sz="1600" b="0">
                <a:solidFill>
                  <a:srgbClr val="5B6B7B"/>
                </a:solidFill>
                <a:latin typeface="Calibri"/>
              </a:rPr>
              <a:t> graph — the cluster-level causal graph — instead of the full DAG.</a:t>
            </a:r>
          </a:p>
        </p:txBody>
      </p:sp>
      <p:pic>
        <p:nvPicPr>
          <p:cNvPr id="4" name="Picture 3" descr="Synthetic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050" y="1874519"/>
            <a:ext cx="2310859" cy="3611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5046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B6B7B"/>
                </a:solidFill>
                <a:latin typeface="Calibri"/>
              </a:rPr>
              <a:t>Full causal DAG  (Synthetic / CompleteGraph)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09160" y="278892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3611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2A4A"/>
                </a:solidFill>
                <a:latin typeface="Calibri"/>
              </a:rPr>
              <a:t>merge  {D, E}</a:t>
            </a:r>
          </a:p>
        </p:txBody>
      </p:sp>
      <p:pic>
        <p:nvPicPr>
          <p:cNvPr id="8" name="Picture 7" descr="Synthetic_c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610" y="1874519"/>
            <a:ext cx="2310859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06640" y="5504688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0E8388"/>
                </a:solidFill>
                <a:latin typeface="Calibri"/>
              </a:rPr>
              <a:t>Quotient C-DAG  (what QCBO uses)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6144768"/>
            <a:ext cx="201168" cy="201168"/>
          </a:xfrm>
          <a:prstGeom prst="ellipse">
            <a:avLst/>
          </a:prstGeom>
          <a:solidFill>
            <a:srgbClr val="E0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1016" y="6099048"/>
            <a:ext cx="952804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3242"/>
                </a:solidFill>
                <a:latin typeface="Calibri"/>
              </a:rPr>
              <a:t>manipulable</a:t>
            </a:r>
          </a:p>
        </p:txBody>
      </p:sp>
      <p:sp>
        <p:nvSpPr>
          <p:cNvPr id="12" name="Oval 11"/>
          <p:cNvSpPr/>
          <p:nvPr/>
        </p:nvSpPr>
        <p:spPr>
          <a:xfrm>
            <a:off x="2534716" y="6144768"/>
            <a:ext cx="201168" cy="201168"/>
          </a:xfrm>
          <a:prstGeom prst="ellipse">
            <a:avLst/>
          </a:prstGeom>
          <a:solidFill>
            <a:srgbClr val="7FB2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45612" y="6099048"/>
            <a:ext cx="1177747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3242"/>
                </a:solidFill>
                <a:latin typeface="Calibri"/>
              </a:rPr>
              <a:t>other variable</a:t>
            </a:r>
          </a:p>
        </p:txBody>
      </p:sp>
      <p:sp>
        <p:nvSpPr>
          <p:cNvPr id="14" name="Oval 13"/>
          <p:cNvSpPr/>
          <p:nvPr/>
        </p:nvSpPr>
        <p:spPr>
          <a:xfrm>
            <a:off x="4334256" y="6144768"/>
            <a:ext cx="201168" cy="201168"/>
          </a:xfrm>
          <a:prstGeom prst="ellipse">
            <a:avLst/>
          </a:prstGeom>
          <a:solidFill>
            <a:srgbClr val="CDE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45152" y="6099048"/>
            <a:ext cx="72786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3242"/>
                </a:solidFill>
                <a:latin typeface="Calibri"/>
              </a:rPr>
              <a:t>target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83910" y="6163055"/>
            <a:ext cx="310896" cy="164592"/>
          </a:xfrm>
          <a:prstGeom prst="roundRect">
            <a:avLst/>
          </a:prstGeom>
          <a:solidFill>
            <a:srgbClr val="E07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04534" y="6099048"/>
            <a:ext cx="147767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3242"/>
                </a:solidFill>
                <a:latin typeface="Calibri"/>
              </a:rPr>
              <a:t>cluster (quotient)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93100" y="6227064"/>
            <a:ext cx="274320" cy="41148"/>
          </a:xfrm>
          <a:prstGeom prst="rect">
            <a:avLst/>
          </a:prstGeom>
          <a:solidFill>
            <a:srgbClr val="B3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7148" y="6099048"/>
            <a:ext cx="140268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243242"/>
                </a:solidFill>
                <a:latin typeface="Calibri"/>
              </a:rPr>
              <a:t>latent confounder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2A4A"/>
                </a:solidFill>
                <a:latin typeface="Cambria"/>
              </a:rPr>
              <a:t>Benchmark structures and their quotients  (1 /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233172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2A4A"/>
                </a:solidFill>
                <a:latin typeface="Calibri"/>
              </a:rPr>
              <a:t>ToyGraph / Synth-2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B7B"/>
                </a:solidFill>
                <a:latin typeface="Calibri"/>
              </a:rPr>
              <a:t>cluster {X, Z}</a:t>
            </a:r>
          </a:p>
        </p:txBody>
      </p:sp>
      <p:pic>
        <p:nvPicPr>
          <p:cNvPr id="4" name="Picture 3" descr="ToyGraph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117" y="1463040"/>
            <a:ext cx="1450884" cy="2272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371600"/>
            <a:ext cx="64008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pic>
        <p:nvPicPr>
          <p:cNvPr id="6" name="Picture 5" descr="ToyGraph_c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146" y="1463040"/>
            <a:ext cx="2112106" cy="227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54780"/>
            <a:ext cx="233172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2A4A"/>
                </a:solidFill>
                <a:latin typeface="Calibri"/>
              </a:rPr>
              <a:t>Chain-hard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B7B"/>
                </a:solidFill>
                <a:latin typeface="Calibri"/>
              </a:rPr>
              <a:t>cluster {Z, W}</a:t>
            </a:r>
          </a:p>
        </p:txBody>
      </p:sp>
      <p:pic>
        <p:nvPicPr>
          <p:cNvPr id="8" name="Picture 7" descr="Chain_d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6098" y="4046220"/>
            <a:ext cx="1908923" cy="22722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3954780"/>
            <a:ext cx="64008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pic>
        <p:nvPicPr>
          <p:cNvPr id="10" name="Picture 9" descr="Chain_cd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2757" y="4046220"/>
            <a:ext cx="1450884" cy="22722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fine DAG  →  quotient C-DAG   (orange = manipulable, box = cluster, dashed red = latent confounder)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2A4A"/>
                </a:solidFill>
                <a:latin typeface="Cambria"/>
              </a:rPr>
              <a:t>Benchmark structures and their quotients  (2 /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233172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2A4A"/>
                </a:solidFill>
                <a:latin typeface="Calibri"/>
              </a:rPr>
              <a:t>Epidemiology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B7B"/>
                </a:solidFill>
                <a:latin typeface="Calibri"/>
              </a:rPr>
              <a:t>cluster {L, B}</a:t>
            </a:r>
          </a:p>
        </p:txBody>
      </p:sp>
      <p:pic>
        <p:nvPicPr>
          <p:cNvPr id="4" name="Picture 3" descr="Epidemiology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3662" y="1463040"/>
            <a:ext cx="1453794" cy="2272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371600"/>
            <a:ext cx="64008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pic>
        <p:nvPicPr>
          <p:cNvPr id="6" name="Picture 5" descr="Epidemiology_c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19" y="1463040"/>
            <a:ext cx="1104961" cy="227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54780"/>
            <a:ext cx="233172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2A4A"/>
                </a:solidFill>
                <a:latin typeface="Calibri"/>
              </a:rPr>
              <a:t>Healthcare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B7B"/>
                </a:solidFill>
                <a:latin typeface="Calibri"/>
              </a:rPr>
              <a:t>cluster {Aspirin, Statin}</a:t>
            </a:r>
          </a:p>
        </p:txBody>
      </p:sp>
      <p:pic>
        <p:nvPicPr>
          <p:cNvPr id="8" name="Picture 7" descr="Healthcare_d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3605" y="4046220"/>
            <a:ext cx="1173908" cy="22722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3954780"/>
            <a:ext cx="64008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pic>
        <p:nvPicPr>
          <p:cNvPr id="10" name="Picture 9" descr="Healthcare_cd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2083" y="4046220"/>
            <a:ext cx="892233" cy="22722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fine DAG  →  quotient C-DAG   (orange = manipulable, box = cluster, dashed red = latent confounder)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2A4A"/>
                </a:solidFill>
                <a:latin typeface="Cambria"/>
              </a:rPr>
              <a:t>Benchmark structures and their quotients  (3 /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233172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2A4A"/>
                </a:solidFill>
                <a:latin typeface="Calibri"/>
              </a:rPr>
              <a:t>Ecology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B7B"/>
                </a:solidFill>
                <a:latin typeface="Calibri"/>
              </a:rPr>
              <a:t>clusters {C,N,O}, {D,T}</a:t>
            </a:r>
          </a:p>
        </p:txBody>
      </p:sp>
      <p:pic>
        <p:nvPicPr>
          <p:cNvPr id="4" name="Picture 3" descr="Ecology_d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67" y="1463040"/>
            <a:ext cx="2831585" cy="22722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371600"/>
            <a:ext cx="64008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pic>
        <p:nvPicPr>
          <p:cNvPr id="6" name="Picture 5" descr="Ecology_c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2717" y="1463040"/>
            <a:ext cx="1730964" cy="22722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3954780"/>
            <a:ext cx="233172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>
                <a:solidFill>
                  <a:srgbClr val="162A4A"/>
                </a:solidFill>
                <a:latin typeface="Calibri"/>
              </a:rPr>
              <a:t>Protein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5B6B7B"/>
                </a:solidFill>
                <a:latin typeface="Calibri"/>
              </a:rPr>
              <a:t>clusters {Akt,Mek}, {PKA,PKC}</a:t>
            </a:r>
          </a:p>
        </p:txBody>
      </p:sp>
      <p:pic>
        <p:nvPicPr>
          <p:cNvPr id="8" name="Picture 7" descr="Protein_d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336" y="4046220"/>
            <a:ext cx="2286446" cy="22722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26480" y="3954780"/>
            <a:ext cx="640080" cy="2583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0E8388"/>
                </a:solidFill>
                <a:latin typeface="Calibri"/>
              </a:rPr>
              <a:t>→</a:t>
            </a:r>
          </a:p>
        </p:txBody>
      </p:sp>
      <p:pic>
        <p:nvPicPr>
          <p:cNvPr id="10" name="Picture 9" descr="Protein_cd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367" y="4046220"/>
            <a:ext cx="2143664" cy="22722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510528"/>
            <a:ext cx="11064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5B6B7B"/>
                </a:solidFill>
                <a:latin typeface="Calibri"/>
              </a:rPr>
              <a:t>fine DAG  →  quotient C-DAG   (orange = manipulable, box = cluster, dashed red = latent confounder)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62A4A"/>
                </a:solidFill>
                <a:latin typeface="Cambria"/>
              </a:rPr>
              <a:t>Hierarchical QCBO: refine the partition when the plateau says 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652760" y="402336"/>
            <a:ext cx="1005840" cy="457200"/>
          </a:xfrm>
          <a:prstGeom prst="roundRect">
            <a:avLst>
              <a:gd name="adj" fmla="val 15000"/>
            </a:avLst>
          </a:prstGeom>
          <a:solidFill>
            <a:srgbClr val="F7ECE7"/>
          </a:solidFill>
          <a:ln w="12700">
            <a:solidFill>
              <a:srgbClr val="C257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52760" y="4754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C2573A"/>
                </a:solidFill>
                <a:latin typeface="Calibri"/>
              </a:rPr>
              <a:t>WIP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6400800" cy="1188720"/>
          </a:xfrm>
          <a:prstGeom prst="roundRect">
            <a:avLst>
              <a:gd name="adj" fmla="val 7000"/>
            </a:avLst>
          </a:prstGeom>
          <a:solidFill>
            <a:srgbClr val="E6F2F2"/>
          </a:solidFill>
          <a:ln>
            <a:noFill/>
          </a:ln>
          <a:effectLst>
            <a:outerShdw blurRad="90000" dist="38000" dir="5400000" rotWithShape="0">
              <a:srgbClr val="9AA6B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271016"/>
            <a:ext cx="5888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62A4A"/>
                </a:solidFill>
                <a:latin typeface="Calibri"/>
              </a:rPr>
              <a:t>Why 1 — full-DAG CBO always self-corrects. </a:t>
            </a:r>
            <a:r>
              <a:rPr sz="1350" b="0">
                <a:solidFill>
                  <a:srgbClr val="243242"/>
                </a:solidFill>
                <a:latin typeface="Calibri"/>
              </a:rPr>
              <a:t>A wrong edge only biases priors; interventional data override it, and its arm space always contains an optimum. So coarse guarantees are worth finite budget, never limiting value.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6400800" cy="1188720"/>
          </a:xfrm>
          <a:prstGeom prst="roundRect">
            <a:avLst>
              <a:gd name="adj" fmla="val 7000"/>
            </a:avLst>
          </a:prstGeom>
          <a:solidFill>
            <a:srgbClr val="F7ECE7"/>
          </a:solidFill>
          <a:ln>
            <a:noFill/>
          </a:ln>
          <a:effectLst>
            <a:outerShdw blurRad="90000" dist="38000" dir="5400000" rotWithShape="0">
              <a:srgbClr val="9AA6B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2596896"/>
            <a:ext cx="5888736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62A4A"/>
                </a:solidFill>
                <a:latin typeface="Calibri"/>
              </a:rPr>
              <a:t>Why 2 — a lossy partition is paid forever. </a:t>
            </a:r>
            <a:r>
              <a:rPr sz="1350" b="0">
                <a:solidFill>
                  <a:srgbClr val="243242"/>
                </a:solidFill>
                <a:latin typeface="Calibri"/>
              </a:rPr>
              <a:t>On ClusterBench10L the optimum do(X1, X3) splits cluster C1: fixed-coarse plateaus 1.03 above y* and its cumulative regret grows by 1.03 per trial — linear in 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5615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62A4A"/>
                </a:solidFill>
                <a:latin typeface="Cambria"/>
              </a:rPr>
              <a:t>The idea in 3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69663"/>
            <a:ext cx="2066543" cy="13898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279392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8388"/>
                </a:solidFill>
                <a:latin typeface="Calibri"/>
              </a:rPr>
              <a:t>1 · Commit coarse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626864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43242"/>
                </a:solidFill>
                <a:latin typeface="Calibri"/>
              </a:rPr>
              <a:t>Run QCBO at partition Pi: intra-cluster invariance + a focused arm 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61488" y="4169663"/>
            <a:ext cx="2066543" cy="13898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98648" y="4279392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8388"/>
                </a:solidFill>
                <a:latin typeface="Calibri"/>
              </a:rPr>
              <a:t>2 · Plateau trigger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8648" y="4626864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43242"/>
                </a:solidFill>
                <a:latin typeface="Calibri"/>
              </a:rPr>
              <a:t>Incumbent gain &lt; 1e-3 over 5 trials -&gt; split its cluster via the declared hierarchy (default singletons); re-check quotient validity.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4336" y="4169663"/>
            <a:ext cx="2066543" cy="13898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4279392"/>
            <a:ext cx="1828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E8388"/>
                </a:solidFill>
                <a:latin typeface="Calibri"/>
              </a:rPr>
              <a:t>3 · Warm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11496" y="4626864"/>
            <a:ext cx="18288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243242"/>
                </a:solidFill>
                <a:latin typeface="Calibri"/>
              </a:rPr>
              <a:t>Prop. 4: superset arm space, shared arms keep identical functionals -&gt; carry all data by arm; init only new arms.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705856"/>
            <a:ext cx="6400800" cy="786384"/>
          </a:xfrm>
          <a:prstGeom prst="roundRect">
            <a:avLst>
              <a:gd name="adj" fmla="val 7000"/>
            </a:avLst>
          </a:prstGeom>
          <a:solidFill>
            <a:srgbClr val="E6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5797296"/>
            <a:ext cx="588873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62A4A"/>
                </a:solidFill>
                <a:latin typeface="Calibri"/>
              </a:rPr>
              <a:t>Survives: </a:t>
            </a:r>
            <a:r>
              <a:rPr sz="1150" b="0">
                <a:solidFill>
                  <a:srgbClr val="243242"/>
                </a:solidFill>
                <a:latin typeface="Calibri"/>
              </a:rPr>
              <a:t>invariance for never-split clusters (phase-scoped) · a split can be refused (validity) · price -&gt; bounded transient.  </a:t>
            </a:r>
            <a:r>
              <a:rPr sz="1150" b="1">
                <a:solidFill>
                  <a:srgbClr val="162A4A"/>
                </a:solidFill>
                <a:latin typeface="Calibri"/>
              </a:rPr>
              <a:t>Honest: </a:t>
            </a:r>
            <a:r>
              <a:rPr sz="1150" b="0">
                <a:solidFill>
                  <a:srgbClr val="243242"/>
                </a:solidFill>
                <a:latin typeface="Calibri"/>
              </a:rPr>
              <a:t>CBO keeps the best regret constant (5.3); the win is vs fixed-coarse.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78040" y="1143000"/>
            <a:ext cx="44805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DEE4"/>
            </a:solidFill>
          </a:ln>
          <a:effectLst>
            <a:outerShdw blurRad="90000" dist="38000" dir="5400000" rotWithShape="0">
              <a:srgbClr val="9AA6B2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lusterbench10L_re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2071" y="1261872"/>
            <a:ext cx="3792497" cy="41605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06640" y="5486400"/>
            <a:ext cx="4023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B6B7B"/>
                </a:solidFill>
                <a:latin typeface="Calibri"/>
              </a:rPr>
              <a:t>ClusterBench10L, 10 seeds. Trigger at trial 11 ± 1; final Y 0.101 (= CBO's 0.103) vs coarse 1.128; cumulative regret 32 (bounded) vs coarse 120 (linear).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47104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5B6B7B"/>
                </a:solidFill>
                <a:latin typeface="Calibri"/>
              </a:rPr>
              <a:t>hierarchical C-DAGs now  ·  discovering the hierarchy / local structure from the run's own interventional data -&gt; next paper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