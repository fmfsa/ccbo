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R_t</c:v>
                </c:pt>
              </c:strCache>
            </c:strRef>
          </c:tx>
          <c:spPr>
            <a:ln w="41275">
              <a:solidFill>
                <a:srgbClr val="0E8388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0.35</c:v>
                </c:pt>
                <c:pt idx="2">
                  <c:v>0.6</c:v>
                </c:pt>
                <c:pt idx="3">
                  <c:v>0.73</c:v>
                </c:pt>
                <c:pt idx="4">
                  <c:v>0.79</c:v>
                </c:pt>
                <c:pt idx="5">
                  <c:v>0.82</c:v>
                </c:pt>
                <c:pt idx="6">
                  <c:v>0.835</c:v>
                </c:pt>
                <c:pt idx="7">
                  <c:v>0.845</c:v>
                </c:pt>
                <c:pt idx="8">
                  <c:v>0.85</c:v>
                </c:pt>
                <c:pt idx="9">
                  <c:v>0.85</c:v>
                </c:pt>
                <c:pt idx="10">
                  <c:v>0.85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 w="6350">
              <a:solidFill>
                <a:srgbClr val="E6EA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R_t</c:v>
                </c:pt>
              </c:strCache>
            </c:strRef>
          </c:tx>
          <c:spPr>
            <a:solidFill>
              <a:srgbClr val="F7ECE7"/>
            </a:solidFill>
            <a:ln w="31750">
              <a:solidFill>
                <a:srgbClr val="C2573A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0.35</c:v>
                </c:pt>
                <c:pt idx="2">
                  <c:v>0.6</c:v>
                </c:pt>
                <c:pt idx="3">
                  <c:v>0.73</c:v>
                </c:pt>
                <c:pt idx="4">
                  <c:v>0.79</c:v>
                </c:pt>
                <c:pt idx="5">
                  <c:v>0.82</c:v>
                </c:pt>
                <c:pt idx="6">
                  <c:v>0.835</c:v>
                </c:pt>
                <c:pt idx="7">
                  <c:v>0.845</c:v>
                </c:pt>
                <c:pt idx="8">
                  <c:v>0.85</c:v>
                </c:pt>
                <c:pt idx="9">
                  <c:v>0.85</c:v>
                </c:pt>
                <c:pt idx="10">
                  <c:v>0.85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.0"/>
          <c:min val="0.0"/>
        </c:scaling>
        <c:delete val="0"/>
        <c:axPos val="l"/>
        <c:majorGridlines>
          <c:spPr>
            <a:ln w="6350">
              <a:solidFill>
                <a:srgbClr val="E6EA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= quality + speed in one number. R measures how far you closed the gap to the oracle optimum y*; the speed term rewards reaching that best value early. Key point: GAP only looks at the single best value and when it first appeared.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PA-GAP is path-aware: it averages the improvement ratio over every trial, weighting earlier trials more. It rewards steady, early progress. GAP and PA-GAP can disagree (a big early jump scores high on GAP; gradual progress scores higher on PA-GAP) — which is why the benchmark reports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162A4A"/>
                </a:solidFill>
                <a:latin typeface="Cambria"/>
              </a:rPr>
              <a:t>GAP — how close did you get, and how fast?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5B6B7B"/>
                </a:solidFill>
                <a:latin typeface="Calibri"/>
              </a:rPr>
              <a:t>One score in [0, 1] (higher is better): did the optimizer reach a value near the best possible, and did it get there early?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93392"/>
            <a:ext cx="146304" cy="146304"/>
          </a:xfrm>
          <a:prstGeom prst="ellipse">
            <a:avLst/>
          </a:prstGeom>
          <a:solidFill>
            <a:srgbClr val="0E8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92807"/>
            <a:ext cx="50017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2A4A"/>
                </a:solidFill>
                <a:latin typeface="Cambr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50017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Quality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how close the best result got to the best possible value y*.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Speed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how early in the run that best value was first reached.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257800" cy="2331720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941063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8388"/>
                </a:solidFill>
                <a:latin typeface="Calibri"/>
              </a:rPr>
              <a:t>Plain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61688"/>
            <a:ext cx="46908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243242"/>
                </a:solidFill>
                <a:latin typeface="Calibri"/>
              </a:rPr>
              <a:t>It rewards an optimizer that jumps to a near-best answer EARLY. GAP looks only at the single best value and the moment it first appeared — not the ups and downs along the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92807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93976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E8388"/>
                </a:solidFill>
                <a:latin typeface="Calibri"/>
              </a:rPr>
              <a:t>Formula  (higher = better, 0–1)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32887"/>
            <a:ext cx="48646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R     = clip( (y0 - y_best) / (y0 - y*),  0, 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speed = (T - t*) / 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62A4A"/>
                </a:solidFill>
                <a:latin typeface="Courier New"/>
              </a:rPr>
              <a:t>GAP   = ( R + speed ) / ( 1 + (T-1)/T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474720"/>
            <a:ext cx="4864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B7B"/>
                </a:solidFill>
                <a:latin typeface="Calibri"/>
              </a:rPr>
              <a:t>y0 = starting best   ·   y_best = best found   ·   y* = best possible (oracle)   ·   t* = trial best first reached   ·   T = total trials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217920" y="4224528"/>
          <a:ext cx="5394960" cy="18745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6144768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The curve = how far you've improved over time. GAP reads its final height (≈0.85) and how early it got there — a snapshot, not the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162A4A"/>
                </a:solidFill>
                <a:latin typeface="Cambria"/>
              </a:rPr>
              <a:t>PA-GAP — was progress steady the whole 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5B6B7B"/>
                </a:solidFill>
                <a:latin typeface="Calibri"/>
              </a:rPr>
              <a:t>Path-Aware GAP scores the WHOLE journey, not just the final value: it averages how much you'd improved at every trial.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93392"/>
            <a:ext cx="146304" cy="146304"/>
          </a:xfrm>
          <a:prstGeom prst="ellipse">
            <a:avLst/>
          </a:prstGeom>
          <a:solidFill>
            <a:srgbClr val="C25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92807"/>
            <a:ext cx="50017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2A4A"/>
                </a:solidFill>
                <a:latin typeface="Cambr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50017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Whole path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it sums up improvement at every step, not only the end.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Early counts more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each trial is weighted, with earlier progress worth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257800" cy="2331720"/>
          </a:xfrm>
          <a:prstGeom prst="roundRect">
            <a:avLst>
              <a:gd name="adj" fmla="val 7000"/>
            </a:avLst>
          </a:prstGeom>
          <a:solidFill>
            <a:srgbClr val="F7ECE7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941063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2573A"/>
                </a:solidFill>
                <a:latin typeface="Calibri"/>
              </a:rPr>
              <a:t>Plain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61688"/>
            <a:ext cx="46908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243242"/>
                </a:solidFill>
                <a:latin typeface="Calibri"/>
              </a:rPr>
              <a:t>Two methods can reach the same final value but score differently: the one that improves EARLY and holds it wins. PA-GAP = the (early-weighted) area under the improvement curve.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92807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93976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C2573A"/>
                </a:solidFill>
                <a:latin typeface="Calibri"/>
              </a:rPr>
              <a:t>Formula  (higher = better)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32887"/>
            <a:ext cx="4864608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R_t = clip( (y0 - best_t) / (y0 - y*),  0, 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243242"/>
                </a:solidFill>
                <a:latin typeface="Courier New"/>
              </a:rPr>
              <a:t>w_t = (T - (t-1)) / T          (early-trial weight)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62A4A"/>
                </a:solidFill>
                <a:latin typeface="Courier New"/>
              </a:rPr>
              <a:t>PA-GAP = (1/T) · Σ_t  R_t · w_t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474720"/>
            <a:ext cx="4864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B7B"/>
                </a:solidFill>
                <a:latin typeface="Calibri"/>
              </a:rPr>
              <a:t>best_t = best-so-far at trial t   ·   R_t = how far you've improved (0–1)   ·   w_t = weight that fades over the run   ·   T = total trials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217920" y="4224528"/>
          <a:ext cx="5394960" cy="18745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6144768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PA-GAP adds up the shaded area under the whole curve (early trials weighted more) — it rewards the journey, not just the endpoint.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